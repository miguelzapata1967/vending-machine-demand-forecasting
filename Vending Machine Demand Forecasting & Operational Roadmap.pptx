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1674614"/>
            <a:ext cx="9601200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oppins"/>
              </a:rPr>
              <a:t>Vending Machine Demand Forecasting &amp; Inventory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48000"/>
            <a:ext cx="85725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Lato"/>
              </a:rPr>
              <a:t>Device &amp; SKU Classification, Model Accuracy Analysis, Safety Stock Optimization, and Strategic Operational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021335"/>
            <a:ext cx="9144000" cy="209550"/>
          </a:xfrm>
          <a:prstGeom prst="rect">
            <a:avLst/>
          </a:prstGeom>
          <a:noFill/>
        </p:spPr>
        <p:txBody>
          <a:bodyPr wrap="square" lIns="176212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Lato SemiBold"/>
              </a:rPr>
              <a:t>Operations Analytics Team | DE Academy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049910"/>
            <a:ext cx="176212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1756"/>
            <a:ext cx="5334000" cy="2462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21756"/>
            <a:ext cx="5334000" cy="2462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917031"/>
            <a:ext cx="4980622" cy="314325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oppins SemiBold"/>
              </a:rP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45656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Implement machine learning-driven time series forecasting (XGBoost) across vending device networks to optimize inventory replenishment, eliminate stockouts, and streamline logistics routes.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188618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Transition from reactive replenishment schedules to proactive dynamic reorder triggers based on 7-day rolling sales velocity.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917031"/>
            <a:ext cx="4980622" cy="314325"/>
          </a:xfrm>
          <a:prstGeom prst="rect">
            <a:avLst/>
          </a:prstGeom>
          <a:noFill/>
        </p:spPr>
        <p:txBody>
          <a:bodyPr wrap="square" lIns="3333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369A1"/>
                </a:solidFill>
                <a:latin typeface="Poppins SemiBold"/>
              </a:rPr>
              <a:t>Target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345656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18.8% Holdout MAPE: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Achieve high forecast accuracy across fast-moving SKUs.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945731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Logistics Consolidation: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Reduce restock visit frequency on low-volume devices while preventing stockouts on top-tier devices.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64656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64656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Executive Summary &amp; Core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5587"/>
            <a:ext cx="3492400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795587"/>
            <a:ext cx="3492549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795587"/>
            <a:ext cx="3492400" cy="2114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138487"/>
            <a:ext cx="2997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oppins"/>
              </a:rPr>
              <a:t>18.8%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843337"/>
            <a:ext cx="2997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Lato"/>
              </a:rPr>
              <a:t>Holdout 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167187"/>
            <a:ext cx="2997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Lato"/>
              </a:rPr>
              <a:t>Achieved by XGBoost model, significantly outperforming classical ARIMA baselines.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300" y="3138487"/>
            <a:ext cx="299724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oppins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300" y="3843337"/>
            <a:ext cx="29972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Lato"/>
              </a:rPr>
              <a:t>7d Rolling Importance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300" y="4167187"/>
            <a:ext cx="29972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Lato"/>
              </a:rPr>
              <a:t>Primary predictive feature weight driving overall demand forecast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600" y="3138487"/>
            <a:ext cx="2997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oppins"/>
              </a:rPr>
              <a:t>-0.90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600" y="3843337"/>
            <a:ext cx="2997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Lato"/>
              </a:rPr>
              <a:t>Restock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600" y="4167187"/>
            <a:ext cx="2997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Lato"/>
              </a:rPr>
              <a:t>Pearson correlation confirming strong historical reactive restock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Key Demand &amp; Model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619375"/>
          <a:ext cx="11029948" cy="246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88926"/>
                <a:gridCol w="1584573"/>
                <a:gridCol w="2822971"/>
                <a:gridCol w="4733478"/>
              </a:tblGrid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Device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Device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Volume &amp; Restock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Operational Action 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Overused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3 Devices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High Volume / Frequent Restocks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Maintain scheduled 2-day replenishment; optimize batch sizes.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Inefficient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 Device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Low Volume / Frequent Restocks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Reduce restock visit frequency to consolidate route logistics.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Underused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0 Devices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Low Volume / Infrequent Restocks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Evaluate machine placement and potential fleet reallocation.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Stockout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0 Devices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High Volume / Infrequent Restocks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Fleet healthy; no immediate acute stockout risk flagged.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605212"/>
            <a:ext cx="1888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69951" y="3605212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54524" y="3605212"/>
            <a:ext cx="2822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77496" y="3605212"/>
            <a:ext cx="473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095750"/>
            <a:ext cx="1888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9951" y="4095750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4524" y="4095750"/>
            <a:ext cx="2822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77496" y="4095750"/>
            <a:ext cx="473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4586287"/>
            <a:ext cx="1888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9951" y="4586287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4524" y="4586287"/>
            <a:ext cx="28229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7496" y="4586287"/>
            <a:ext cx="473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Device Fleet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31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531268"/>
            <a:ext cx="51054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7-Day Rolling Mean Dominance: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Accounts for ~62% of total feature importance in XGBoost, acting as the primary anchor for forecast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412331"/>
            <a:ext cx="51054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Lag Features (t-1, t-7):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Form the secondary tier of predictive weight, effectively capturing short-term momentum and weekly consumption cycles.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293393"/>
            <a:ext cx="51054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Calendar Context Flags: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Features such as </a:t>
            </a:r>
            <a:r>
              <a:rPr b="0" sz="1275" i="1" u="none">
                <a:solidFill>
                  <a:srgbClr val="334155"/>
                </a:solidFill>
                <a:latin typeface="Lato"/>
              </a:rPr>
              <a:t>is_weekend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and </a:t>
            </a:r>
            <a:r>
              <a:rPr b="0" sz="1275" i="1" u="none">
                <a:solidFill>
                  <a:srgbClr val="334155"/>
                </a:solidFill>
                <a:latin typeface="Lato"/>
              </a:rPr>
              <a:t>quarter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provided minor incremental gains once short-term demand signals were incorporated.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2637"/>
            <a:ext cx="531495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531268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284C7"/>
                </a:solidFill>
                <a:latin typeface="Lato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412331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284C7"/>
                </a:solidFill>
                <a:latin typeface="Lato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293393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0284C7"/>
                </a:solidFill>
                <a:latin typeface="Lato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Predictive Driver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4410"/>
            <a:ext cx="11049000" cy="4107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068710"/>
            <a:ext cx="2082105" cy="1821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67955" y="2078831"/>
            <a:ext cx="3286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Lato Medium"/>
              </a:rPr>
              <a:t>(Service Level = 95%, Z = 1.65, Est. Lead Time L = 2 Days)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555676"/>
          <a:ext cx="11029946" cy="319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75395"/>
                <a:gridCol w="2010667"/>
                <a:gridCol w="1516856"/>
                <a:gridCol w="1716732"/>
                <a:gridCol w="1787276"/>
                <a:gridCol w="2023020"/>
              </a:tblGrid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SKU Identifier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7d Avg Demand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7d Std Dev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Safety Stock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Reorder 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Variance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da3562c5…fb66aa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19.4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12.4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28.9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67.8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High Volatility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b1cfc8c8…3deb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17.4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7.8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18.3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53.2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93d664dd…51e92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19.3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4.8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11.2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49.7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9a154810…b7e05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16.0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7.3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17.1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49.1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260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be61be55…88fa7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14.1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6.6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15.4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43.7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3589139"/>
            <a:ext cx="1975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420" y="3589139"/>
            <a:ext cx="201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67088" y="3589139"/>
            <a:ext cx="1516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3944" y="3589139"/>
            <a:ext cx="17167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0677" y="3589139"/>
            <a:ext cx="178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87954" y="3589139"/>
            <a:ext cx="20230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127301"/>
            <a:ext cx="1975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420" y="4127301"/>
            <a:ext cx="201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67088" y="4127301"/>
            <a:ext cx="1516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3944" y="4127301"/>
            <a:ext cx="17167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00677" y="4127301"/>
            <a:ext cx="178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87954" y="4127301"/>
            <a:ext cx="20230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4665464"/>
            <a:ext cx="1975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56420" y="4665464"/>
            <a:ext cx="201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7088" y="4665464"/>
            <a:ext cx="1516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3944" y="4665464"/>
            <a:ext cx="17167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00677" y="4665464"/>
            <a:ext cx="178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87954" y="4665464"/>
            <a:ext cx="20230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1025" y="5203626"/>
            <a:ext cx="1975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56420" y="5203626"/>
            <a:ext cx="2010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67088" y="5203626"/>
            <a:ext cx="1516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3944" y="5203626"/>
            <a:ext cx="17167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00677" y="5203626"/>
            <a:ext cx="178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87954" y="5203626"/>
            <a:ext cx="20230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454" y="3193851"/>
            <a:ext cx="1047750" cy="26193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454" y="3732014"/>
            <a:ext cx="647700" cy="26193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454" y="4270176"/>
            <a:ext cx="647700" cy="26193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454" y="4808339"/>
            <a:ext cx="647700" cy="261937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454" y="5346501"/>
            <a:ext cx="647700" cy="26193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SKU Inventory Optimization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23975"/>
            <a:ext cx="11049000" cy="5057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293518"/>
            <a:ext cx="110490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1" u="none">
                <a:solidFill>
                  <a:srgbClr val="334155"/>
                </a:solidFill>
                <a:latin typeface="Lato"/>
              </a:rPr>
              <a:t>Continuous reduction in MAPE error rate following iterative feature engineering and XGBoost hyperparameter tuning.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Forecast Accuracy &amp; MAPE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Smart Retail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57275"/>
            <a:ext cx="5334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323975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Real-Time Telemetry &amp;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52600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Deploying automated telemetry across smart vending machines allows real-time inventory monitoring and dynamic anomaly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422921"/>
            <a:ext cx="53340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Audited 2.4% missing lag windows caused by maintenance offline periods and applied 7-day rolling median imputation to safeguard time-series input continuity.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55043"/>
          <a:ext cx="11029948" cy="319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55799"/>
                <a:gridCol w="2022574"/>
                <a:gridCol w="1962745"/>
                <a:gridCol w="2530673"/>
                <a:gridCol w="1843236"/>
                <a:gridCol w="1514921"/>
              </a:tblGrid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Device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Facility 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Restock Frequency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Optimal Dispatch Window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Target Batch Size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Route Priority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VM-101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Industrial Plant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2 Days (M / W / F)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Mon / Wed / Fri — 06:00 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180 Units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High Priority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VM-102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Corporate HQ 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3 Days (T / Th)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Tue / Thu — 08:30 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120 Units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VM-103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Transit Hub Terminal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Daily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Everyday — 05:00 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250 Units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Urgent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26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VM-104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Manufacturing Facility 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2 Days (T / F)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Tue / Fri — 07:00 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150 Units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High Priority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260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VM-105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Distribution Annex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Weekly (Mon)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Monday — 10:00 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90 Units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288506"/>
            <a:ext cx="115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6824" y="3288506"/>
            <a:ext cx="2022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59398" y="3288506"/>
            <a:ext cx="1962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22143" y="3288506"/>
            <a:ext cx="253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2817" y="3288506"/>
            <a:ext cx="184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96053" y="3288506"/>
            <a:ext cx="1514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826668"/>
            <a:ext cx="115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6824" y="3826668"/>
            <a:ext cx="2022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9398" y="3826668"/>
            <a:ext cx="1962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22143" y="3826668"/>
            <a:ext cx="253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2817" y="3826668"/>
            <a:ext cx="184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96053" y="3826668"/>
            <a:ext cx="1514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364831"/>
            <a:ext cx="115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6824" y="4364831"/>
            <a:ext cx="2022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59398" y="4364831"/>
            <a:ext cx="1962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22143" y="4364831"/>
            <a:ext cx="253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2817" y="4364831"/>
            <a:ext cx="184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96053" y="4364831"/>
            <a:ext cx="1514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1025" y="4902993"/>
            <a:ext cx="1155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36824" y="4902993"/>
            <a:ext cx="20225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59398" y="4902993"/>
            <a:ext cx="1962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22143" y="4902993"/>
            <a:ext cx="253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2817" y="4902993"/>
            <a:ext cx="18432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96053" y="4902993"/>
            <a:ext cx="1514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553" y="2893218"/>
            <a:ext cx="952500" cy="26193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553" y="3431381"/>
            <a:ext cx="647700" cy="26193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6553" y="3969543"/>
            <a:ext cx="609600" cy="2619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553" y="4507706"/>
            <a:ext cx="952500" cy="26193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6553" y="5045868"/>
            <a:ext cx="723900" cy="26193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Fleet Restock Dispatch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4754"/>
            <a:ext cx="2430660" cy="1293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805" y="4461420"/>
            <a:ext cx="400050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" y="3034754"/>
            <a:ext cx="2430660" cy="12933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85" y="4461420"/>
            <a:ext cx="40005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60" y="3034754"/>
            <a:ext cx="2430660" cy="12933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166" y="4461420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541" y="3034754"/>
            <a:ext cx="2430660" cy="129331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846" y="4461420"/>
            <a:ext cx="400050" cy="4000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3368129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" y="3234779"/>
            <a:ext cx="213214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Poppins SemiBold"/>
              </a:rPr>
              <a:t>Q1 -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568154"/>
            <a:ext cx="203061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Lato"/>
              </a:rPr>
              <a:t>Audit lag features, resolve sensor offline periods with 7d rolling median imputation.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4205" y="3234779"/>
            <a:ext cx="213214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Poppins SemiBold"/>
              </a:rPr>
              <a:t>Q2 - Dynamic 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4205" y="3568154"/>
            <a:ext cx="203061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Lato"/>
              </a:rPr>
              <a:t>Automate dynamic recalculation of safety stock and reorder points based on demand std dev.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885" y="3234779"/>
            <a:ext cx="213214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Poppins SemiBold"/>
              </a:rPr>
              <a:t>Q3 - Lead Times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885" y="3568154"/>
            <a:ext cx="203061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Lato"/>
              </a:rPr>
              <a:t>Integrate vendor lead times into safety stock calculations replacing static estimates.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9566" y="3234779"/>
            <a:ext cx="213214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Poppins SemiBold"/>
              </a:rPr>
              <a:t>Q4 - Dispatch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9566" y="3568154"/>
            <a:ext cx="203061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334155"/>
                </a:solidFill>
                <a:latin typeface="Lato"/>
              </a:rPr>
              <a:t>Deploy ML-driven proactive route planning aligned with predictive SKU demand curves.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Strategic Operational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3524250" cy="2586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59843"/>
            <a:ext cx="3524250" cy="2586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59843"/>
            <a:ext cx="3524250" cy="25860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55118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579018"/>
            <a:ext cx="32004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Investigate Spikes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07643"/>
            <a:ext cx="3048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Follow up with field operations on mid-February demand spikes to verify promotional orders vs telemetry errors.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855118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579018"/>
            <a:ext cx="32004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Recalculate 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007643"/>
            <a:ext cx="3048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Implement automated monthly recalculation of safety stock and reorder points using 7-day rolling variance.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2855118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4375" y="3579018"/>
            <a:ext cx="32004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oppins SemiBold"/>
              </a:rPr>
              <a:t>Route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4375" y="4007643"/>
            <a:ext cx="3048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Transition from reactive replenishment to ML-driven route dispatch to maximize driver fleet efficiency.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3007518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3007518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3007518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Key Actionable Next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612" y="3995737"/>
            <a:ext cx="3914775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30516" y="2347912"/>
            <a:ext cx="7730966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0362" y="3395662"/>
            <a:ext cx="6391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Vending Machine Demand Forecasting &amp; Inventory Optimization Deck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887" y="4176712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003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32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503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https://www.slideteam.net/media/catalog/product/cache/1280x720/m/a/market_demand_and_forecast_dashboard_with_method_count_slide01.jpg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837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www.slideteam.net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05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147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https://www.digitalmediavending.com/_next/image?url=%2Fwp-content%2Fuploads%2F2026%2F05%2F2026-05-03-transfigure-retail-hero.jpg&amp;w=3840&amp;q=75&amp;dpl=dpl_2TA7zassNdJKGZWdYRdF9ThBKz67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338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www.digitalmediavending.com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E293B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